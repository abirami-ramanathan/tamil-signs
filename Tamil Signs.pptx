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95" r:id="rId4"/>
    <p:sldId id="294" r:id="rId5"/>
    <p:sldId id="263" r:id="rId6"/>
    <p:sldId id="296" r:id="rId7"/>
    <p:sldId id="264" r:id="rId8"/>
    <p:sldId id="266" r:id="rId9"/>
    <p:sldId id="268" r:id="rId10"/>
    <p:sldId id="267" r:id="rId11"/>
    <p:sldId id="269" r:id="rId12"/>
    <p:sldId id="270" r:id="rId13"/>
    <p:sldId id="292" r:id="rId14"/>
    <p:sldId id="280" r:id="rId15"/>
    <p:sldId id="274" r:id="rId16"/>
    <p:sldId id="289" r:id="rId17"/>
    <p:sldId id="29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68" autoAdjust="0"/>
  </p:normalViewPr>
  <p:slideViewPr>
    <p:cSldViewPr snapToGrid="0">
      <p:cViewPr varScale="1">
        <p:scale>
          <a:sx n="81" d="100"/>
          <a:sy n="81" d="100"/>
        </p:scale>
        <p:origin x="7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43609-0408-4348-B094-3589D118FE3F}" type="datetimeFigureOut">
              <a:rPr lang="en-SG" smtClean="0"/>
              <a:t>28/1/2026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C6683-7F7F-4232-A342-9311BDDF25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86717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C6683-7F7F-4232-A342-9311BDDF2591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9031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8AB9D-4607-A845-7091-6958F1B63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1EA55-A920-FC83-A4CC-55E31DB9E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2BB1E-9331-3797-8505-B34B4F2F9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90FA7-E828-1CEC-7B43-6E24CDD60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C6683-7F7F-4232-A342-9311BDDF2591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2024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C6683-7F7F-4232-A342-9311BDDF2591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86875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5558-2F1A-CF29-1056-96B92839E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5CFAA-A983-3666-652B-1F860993B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A542A-E702-E602-AB6F-391E496A5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ACC78-2A18-470E-A100-D9E21194837E}" type="datetimeFigureOut">
              <a:rPr lang="en-SG" smtClean="0"/>
              <a:t>28/1/2026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B8807-BBD2-6BAA-4C97-B88D83AA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4C23D-A89D-434E-4695-42654648B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BFC-4C63-4FD9-B2EA-A1D559F987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8322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83A87-CA9F-E5EA-2C8A-239B5BF4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65CC7-6C48-45C2-9092-3DBA4DB1C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9566F-A243-67C5-CD88-3DA9BB9E5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ACC78-2A18-470E-A100-D9E21194837E}" type="datetimeFigureOut">
              <a:rPr lang="en-SG" smtClean="0"/>
              <a:t>28/1/2026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29544-3D8B-22AA-C805-25334108F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A0409-11B0-1F57-B8B4-AE09F7CDB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BFC-4C63-4FD9-B2EA-A1D559F987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95091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6C57-DD7A-ABC2-A138-B69CB7DBC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B98CA-7F65-F1B0-FBC2-CE109E051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53B0C-7C64-DFC1-F26E-D3AD51053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ACC78-2A18-470E-A100-D9E21194837E}" type="datetimeFigureOut">
              <a:rPr lang="en-SG" smtClean="0"/>
              <a:t>28/1/2026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7AC41-894D-DAB7-3716-56A6EFA3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F2B4C-62D1-25CC-F48D-AA2A6FD7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BFC-4C63-4FD9-B2EA-A1D559F987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58862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52225-3E9E-C48C-AE03-7AB5E4F95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EEB95-77C5-FEFE-849C-CC37EB737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DAC41-0878-EA1D-8965-EB5EF53D1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71B94-9BA1-5E8E-B290-117A9D540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ACC78-2A18-470E-A100-D9E21194837E}" type="datetimeFigureOut">
              <a:rPr lang="en-SG" smtClean="0"/>
              <a:t>28/1/2026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DB849-9CD5-A0AF-A058-60E8311D8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81BB7-61E0-3577-4EF3-24A0E115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BFC-4C63-4FD9-B2EA-A1D559F987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5498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17DD-A97A-B1EC-B8C5-879FE253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4E0E3-E58E-D435-1D24-9CD7D5F80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C4F14-AE57-E7EC-FF06-1E451F374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5DEEB-CCAD-E3FB-B2E2-E04AD69D94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18099-7381-B718-CD21-4C148563B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45416F-29D4-7D3D-2E68-D8576F0D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ACC78-2A18-470E-A100-D9E21194837E}" type="datetimeFigureOut">
              <a:rPr lang="en-SG" smtClean="0"/>
              <a:t>28/1/2026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74B06D-0F8E-1133-E00D-62F5D9C57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ED066F-3F02-FC26-C20B-D2181AA0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BFC-4C63-4FD9-B2EA-A1D559F987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08947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C93AF-F684-74A6-B3C9-E1ACAE0C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5F0F2-9EBE-8616-E75F-32344BE34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ACC78-2A18-470E-A100-D9E21194837E}" type="datetimeFigureOut">
              <a:rPr lang="en-SG" smtClean="0"/>
              <a:t>28/1/2026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DB6DE-B998-F4F9-E440-3701EDB26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6F90D6-CC14-C4EF-33C8-40981A29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BFC-4C63-4FD9-B2EA-A1D559F987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6876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EFC081-737F-BC75-FC5F-02DFDA141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ACC78-2A18-470E-A100-D9E21194837E}" type="datetimeFigureOut">
              <a:rPr lang="en-SG" smtClean="0"/>
              <a:t>28/1/2026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36607B-9A97-6C66-B259-C06923FE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5413E-CB75-71B1-289C-9EC44879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BFC-4C63-4FD9-B2EA-A1D559F987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37245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EE90B-0683-40E7-30C0-6C2C29CA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70B11-F686-E131-8856-8238655B6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BC820-88A2-62D5-935F-8417B6F2D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957B9-3169-9552-D779-A36482EED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ACC78-2A18-470E-A100-D9E21194837E}" type="datetimeFigureOut">
              <a:rPr lang="en-SG" smtClean="0"/>
              <a:t>28/1/2026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8DEA3-89D4-8E13-99AE-A61D1912F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3EF72-B46D-4514-53F6-5712BEC8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BFC-4C63-4FD9-B2EA-A1D559F987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72743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8CA38-70A0-CDE1-5688-708076905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0D5E26-A77D-9289-F823-C9B18BD06B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EA63F-D951-B13C-B590-0429D5DC8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2B971-5F48-435C-9A0E-02669EBD2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ACC78-2A18-470E-A100-D9E21194837E}" type="datetimeFigureOut">
              <a:rPr lang="en-SG" smtClean="0"/>
              <a:t>28/1/2026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FEDEC-A83A-7DDF-9E93-EE7BF9399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7E867-1B70-AEBA-B92D-060DBEDBE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BFC-4C63-4FD9-B2EA-A1D559F987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0218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41BC9-C304-4F1B-79DE-48F13433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077FE-321A-5BE1-6E7E-528435B34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6F1DD-02CF-1502-9DEE-34A5F4DCE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ACC78-2A18-470E-A100-D9E21194837E}" type="datetimeFigureOut">
              <a:rPr lang="en-SG" smtClean="0"/>
              <a:t>28/1/2026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7B07E-B7BF-C2E1-AEC6-729462984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DE34B-4028-2F72-BC4B-BAFA62839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BFC-4C63-4FD9-B2EA-A1D559F987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10476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DB0EF1-0ABF-24C4-D15E-7D804A3856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E3FC20-4BD6-09EF-061F-BBA1F703B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21B2E-FACD-6BFE-EA98-16428E7A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ACC78-2A18-470E-A100-D9E21194837E}" type="datetimeFigureOut">
              <a:rPr lang="en-SG" smtClean="0"/>
              <a:t>28/1/2026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3DCC7-320A-4745-7DE2-F3FFA590A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FF1B1-0F61-90D1-8FF2-CE3D1A9F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BFC-4C63-4FD9-B2EA-A1D559F987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51633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FC128-CD0D-AD8F-AAA6-7CFCD8D8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9F8A0-ADEE-AE26-4B39-A39D6D46D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7B4EB-1B50-37F6-8BEB-AEF568828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ACC78-2A18-470E-A100-D9E21194837E}" type="datetimeFigureOut">
              <a:rPr lang="en-SG" smtClean="0"/>
              <a:t>28/1/2026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AE300-B4E6-070C-4DDC-1EE68EFD2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2C3C6-E717-3400-EAA5-3BCB55108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F2BFC-4C63-4FD9-B2EA-A1D559F987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61950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5809-A6E1-814B-DAFF-05FF8F012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960" y="469931"/>
            <a:ext cx="11080080" cy="1541826"/>
          </a:xfrm>
        </p:spPr>
        <p:txBody>
          <a:bodyPr>
            <a:no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SIGN LANGUAGE RECOGNITION USING MACHINE LEARNING</a:t>
            </a:r>
            <a:endParaRPr lang="en-SG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5738837-4A94-E117-B203-47BCB5521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074387"/>
              </p:ext>
            </p:extLst>
          </p:nvPr>
        </p:nvGraphicFramePr>
        <p:xfrm>
          <a:off x="3707636" y="3665483"/>
          <a:ext cx="4336869" cy="22346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64195">
                  <a:extLst>
                    <a:ext uri="{9D8B030D-6E8A-4147-A177-3AD203B41FA5}">
                      <a16:colId xmlns:a16="http://schemas.microsoft.com/office/drawing/2014/main" val="3889359169"/>
                    </a:ext>
                  </a:extLst>
                </a:gridCol>
                <a:gridCol w="1872674">
                  <a:extLst>
                    <a:ext uri="{9D8B030D-6E8A-4147-A177-3AD203B41FA5}">
                      <a16:colId xmlns:a16="http://schemas.microsoft.com/office/drawing/2014/main" val="2814469561"/>
                    </a:ext>
                  </a:extLst>
                </a:gridCol>
              </a:tblGrid>
              <a:tr h="5586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SG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</a:t>
                      </a:r>
                      <a:endParaRPr lang="en-SG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5253030"/>
                  </a:ext>
                </a:extLst>
              </a:tr>
              <a:tr h="5586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Abirami Ramanathan</a:t>
                      </a:r>
                      <a:endParaRPr lang="en-SG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2023103020</a:t>
                      </a:r>
                      <a:endParaRPr lang="en-SG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7975237"/>
                  </a:ext>
                </a:extLst>
              </a:tr>
              <a:tr h="5586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Hashim M</a:t>
                      </a:r>
                      <a:endParaRPr lang="en-SG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2023103017</a:t>
                      </a:r>
                      <a:endParaRPr lang="en-SG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0870609"/>
                  </a:ext>
                </a:extLst>
              </a:tr>
              <a:tr h="5586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Hariharan B</a:t>
                      </a:r>
                      <a:endParaRPr lang="en-SG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2023103704</a:t>
                      </a:r>
                      <a:endParaRPr lang="en-SG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959263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66D0C02-ADB4-EF05-7F45-DEC10BB20480}"/>
              </a:ext>
            </a:extLst>
          </p:cNvPr>
          <p:cNvSpPr txBox="1"/>
          <p:nvPr/>
        </p:nvSpPr>
        <p:spPr>
          <a:xfrm>
            <a:off x="3707635" y="2998113"/>
            <a:ext cx="43368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endParaRPr lang="en-S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122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3D17E-E191-15BE-4119-1B008BC4F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</a:t>
            </a:r>
            <a:endParaRPr lang="en-SG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1993CC7-7D36-6719-A7C3-D3B36830F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51" y="1818070"/>
            <a:ext cx="9775587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Tamil is an ancient language with 247 characters used by millions worldwide.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Deaf and mute communities face communication barriers due to sign language understanding.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sign recognition research mainly targets ASL and BSL languages globally widely.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Tamil Sign Language research remains limited with character coverage and real-time performance.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Advances in computer vision and machine learning enable improved hand gesture analysis.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340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2E1DD-4351-356E-87C5-345D77876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SG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41907-8DF3-C19E-B455-873302021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the communication between deaf users and general public through real-time translation systems.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accurate, scalable Tamil sign language recognition using modern machine learning techniques.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limitations of controlled environments by enabling robust real-world gesture recognition systems.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 landmarks to improve accuracy and real-time performance sign recognition.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inclusivity and social participation within Tamil-speaking deaf and mute communities globally.</a:t>
            </a:r>
            <a:endParaRPr lang="en-SG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551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E2CFE-9362-DAA3-860F-BA95B1E7B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E507E-CCC8-8CD9-43B8-3E4E730FB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SG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15D13-A3D5-F27D-33FC-153D4DB35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sign communication is hindered by complex alphabets and lack of accurate real-time systems.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efficient real-time ML system to enable communication between deaf users and the general public.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Problems</a:t>
            </a:r>
          </a:p>
          <a:p>
            <a:pPr lvl="1"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real-time Tamil sign language recognition systems</a:t>
            </a:r>
          </a:p>
          <a:p>
            <a:pPr lvl="1"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complexity due to 247 Tamil characters</a:t>
            </a:r>
          </a:p>
          <a:p>
            <a:pPr lvl="1"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public familiarity with Tamil sign language</a:t>
            </a:r>
          </a:p>
          <a:p>
            <a:pPr lvl="1"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accuracy and scalability in existing solutions</a:t>
            </a:r>
          </a:p>
          <a:p>
            <a:pPr lvl="1" algn="just"/>
            <a:r>
              <a:rPr lang="en-SG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barriers leading to social exclusion for the deaf and mute</a:t>
            </a:r>
          </a:p>
        </p:txBody>
      </p:sp>
    </p:spTree>
    <p:extLst>
      <p:ext uri="{BB962C8B-B14F-4D97-AF65-F5344CB8AC3E}">
        <p14:creationId xmlns:p14="http://schemas.microsoft.com/office/powerpoint/2010/main" val="423425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DE85C-584A-C939-58E8-1B42F37D6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Objectives</a:t>
            </a:r>
            <a:endParaRPr lang="en-SG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5D8CA-4BD9-1222-753D-9D13318FC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/>
          </a:bodyPr>
          <a:lstStyle/>
          <a:p>
            <a:r>
              <a:rPr lang="en-SG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Communication Gaps for Tamil-speaking deaf/mute community</a:t>
            </a:r>
          </a:p>
          <a:p>
            <a:r>
              <a:rPr lang="en-SG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Lightweight Recognition System (without GPU usage)</a:t>
            </a:r>
          </a:p>
          <a:p>
            <a:r>
              <a:rPr lang="en-SG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Recognition via webcam</a:t>
            </a:r>
          </a:p>
          <a:p>
            <a:r>
              <a:rPr lang="en-SG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Device Accessibility for resource-constrained devices</a:t>
            </a:r>
          </a:p>
          <a:p>
            <a:r>
              <a:rPr lang="en-SG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Inclusivity for hearing/speech impaired individuals</a:t>
            </a:r>
          </a:p>
          <a:p>
            <a:r>
              <a:rPr lang="en-SG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 Regional Sign Language Research for Tamil</a:t>
            </a:r>
          </a:p>
          <a:p>
            <a:pPr algn="just"/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598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54F4C-22DC-DB84-EC1B-DE9DDDC2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E786D-D9C3-EAA3-5988-2D91BC89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SG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BB8ED-0B31-42C5-6A4F-6C1C53E27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/>
          </a:bodyPr>
          <a:lstStyle/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real-time Tamil Sign Language recognition system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construct and scale a structured feature dataset from TLFS23 landmark representations.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machine learning techniques, specifically Random Forest, for classification of the 247 Tamil alphabet classes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robust hand landmark features using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Tamil sign gestures.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extend the system from isolated alphabet recognition to word-level generation using temporal aggregation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user-friendly real-time interface for live sign prediction</a:t>
            </a:r>
          </a:p>
          <a:p>
            <a:pPr algn="just"/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180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C0C97C7-868F-C1E8-6A50-93941DA0B8C1}"/>
              </a:ext>
            </a:extLst>
          </p:cNvPr>
          <p:cNvSpPr txBox="1"/>
          <p:nvPr/>
        </p:nvSpPr>
        <p:spPr>
          <a:xfrm>
            <a:off x="3323240" y="160702"/>
            <a:ext cx="6097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Sign Language Recognition Framework</a:t>
            </a:r>
            <a:endParaRPr lang="en-SG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615E02-5938-27AA-30AF-9796B43DC92D}"/>
              </a:ext>
            </a:extLst>
          </p:cNvPr>
          <p:cNvSpPr/>
          <p:nvPr/>
        </p:nvSpPr>
        <p:spPr>
          <a:xfrm>
            <a:off x="1712169" y="2398143"/>
            <a:ext cx="353671" cy="43791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6B6C8E9-399A-3FC6-4166-95984BA3217A}"/>
              </a:ext>
            </a:extLst>
          </p:cNvPr>
          <p:cNvSpPr/>
          <p:nvPr/>
        </p:nvSpPr>
        <p:spPr>
          <a:xfrm>
            <a:off x="457200" y="306242"/>
            <a:ext cx="2866040" cy="172959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34" name="Content Placeholder 33">
            <a:extLst>
              <a:ext uri="{FF2B5EF4-FFF2-40B4-BE49-F238E27FC236}">
                <a16:creationId xmlns:a16="http://schemas.microsoft.com/office/drawing/2014/main" id="{15ABD393-AF11-D987-B82F-E013923AB7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63" y="871266"/>
            <a:ext cx="11941460" cy="5595199"/>
          </a:xfrm>
        </p:spPr>
      </p:pic>
    </p:spTree>
    <p:extLst>
      <p:ext uri="{BB962C8B-B14F-4D97-AF65-F5344CB8AC3E}">
        <p14:creationId xmlns:p14="http://schemas.microsoft.com/office/powerpoint/2010/main" val="1408139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6526A-F330-3EBF-0F67-1B46481DAC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7313" y="116187"/>
            <a:ext cx="105156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Image Pre-processing</a:t>
            </a:r>
            <a:endParaRPr lang="en-SG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126FCC-33C9-60AC-5257-6BCFC51FA5F0}"/>
              </a:ext>
            </a:extLst>
          </p:cNvPr>
          <p:cNvSpPr txBox="1"/>
          <p:nvPr/>
        </p:nvSpPr>
        <p:spPr>
          <a:xfrm>
            <a:off x="5032203" y="1163980"/>
            <a:ext cx="609731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endParaRPr lang="en-SG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D56E54-ECFB-E87D-85B3-ACE77FC31C4A}"/>
                  </a:ext>
                </a:extLst>
              </p:cNvPr>
              <p:cNvSpPr txBox="1"/>
              <p:nvPr/>
            </p:nvSpPr>
            <p:spPr>
              <a:xfrm>
                <a:off x="5032203" y="1487145"/>
                <a:ext cx="4914576" cy="2603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Require: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Image file paths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target image format and size.</a:t>
                </a:r>
                <a:b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Ensure: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Preprocessed images suitable for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MediaPipe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hand landmark extraction.</a:t>
                </a:r>
              </a:p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Read images from input paths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Remove corrupted or invalid images.</a:t>
                </a:r>
              </a:p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Convert images to RGB color format.</a:t>
                </a:r>
              </a:p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Resize images to a standard resolution (if required).</a:t>
                </a:r>
              </a:p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Normalize pixel values and convert to NumPy arrays.</a:t>
                </a:r>
              </a:p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Store successfully processed images and track failures.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D56E54-ECFB-E87D-85B3-ACE77FC31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203" y="1487145"/>
                <a:ext cx="4914576" cy="2603405"/>
              </a:xfrm>
              <a:prstGeom prst="rect">
                <a:avLst/>
              </a:prstGeom>
              <a:blipFill>
                <a:blip r:embed="rId2"/>
                <a:stretch>
                  <a:fillRect l="-620" t="-703" b="-23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750435F-EDB6-E6A3-5B6C-FFEB2C6850D2}"/>
              </a:ext>
            </a:extLst>
          </p:cNvPr>
          <p:cNvSpPr txBox="1"/>
          <p:nvPr/>
        </p:nvSpPr>
        <p:spPr>
          <a:xfrm>
            <a:off x="5032203" y="4263149"/>
            <a:ext cx="637950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normalization, resizing, and format conversion on raw TLFS23 dataset images.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images meet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requirements for accurate hand landmark extraction.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image quality and standardizes dimensions to improve hand detection reliability.</a:t>
            </a:r>
            <a:endParaRPr lang="en-SG" sz="15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2E74BC-4141-4100-452A-07BA9359A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73" y="1696052"/>
            <a:ext cx="3175192" cy="390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99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290D45-59F9-05A6-C9B5-8CE646D76142}"/>
              </a:ext>
            </a:extLst>
          </p:cNvPr>
          <p:cNvSpPr txBox="1">
            <a:spLocks/>
          </p:cNvSpPr>
          <p:nvPr/>
        </p:nvSpPr>
        <p:spPr>
          <a:xfrm>
            <a:off x="308854" y="87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Hands Framework</a:t>
            </a:r>
            <a:endParaRPr lang="en-SG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8BB734-5074-AF5B-08A6-998C4E53A509}"/>
                  </a:ext>
                </a:extLst>
              </p:cNvPr>
              <p:cNvSpPr txBox="1"/>
              <p:nvPr/>
            </p:nvSpPr>
            <p:spPr>
              <a:xfrm>
                <a:off x="5825359" y="1438760"/>
                <a:ext cx="5439104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SG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Algorithm: Hand Landmark Extraction using MediaPipe</a:t>
                </a:r>
              </a:p>
              <a:p>
                <a:endParaRPr lang="en-SG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SG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Require:</a:t>
                </a: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Preprocessed image set </a:t>
                </a:r>
                <a14:m>
                  <m:oMath xmlns:m="http://schemas.openxmlformats.org/officeDocument/2006/math">
                    <m:r>
                      <a:rPr lang="en-SG" sz="16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MediaPipe configuration parameters</a:t>
                </a:r>
                <a:b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SG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Ensure:</a:t>
                </a: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Hand landmark feature vectors for machine learning classification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Initialize MediaPipe Hands with detection and tracking confidence parameters.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 each image to detect hand presence and landmarks.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Extract 21 hand landmarks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coordinates per detected hand.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Flatten landmark coordinates into a 63-dimensional feature vector.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Associate extracted features with corresponding class labels.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Record successful and failed detections for analysis.</a:t>
                </a:r>
              </a:p>
              <a:p>
                <a:r>
                  <a:rPr lang="en-SG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Return:</a:t>
                </a: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 matrix </a:t>
                </a:r>
                <a14:m>
                  <m:oMath xmlns:m="http://schemas.openxmlformats.org/officeDocument/2006/math">
                    <m:r>
                      <a:rPr lang="en-SG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label vector </a:t>
                </a:r>
                <a14:m>
                  <m:oMath xmlns:m="http://schemas.openxmlformats.org/officeDocument/2006/math">
                    <m:r>
                      <a:rPr lang="en-SG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detection statistics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8BB734-5074-AF5B-08A6-998C4E53A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359" y="1438760"/>
                <a:ext cx="5439104" cy="4524315"/>
              </a:xfrm>
              <a:prstGeom prst="rect">
                <a:avLst/>
              </a:prstGeom>
              <a:blipFill>
                <a:blip r:embed="rId2"/>
                <a:stretch>
                  <a:fillRect l="-673" t="-404" r="-785" b="-80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CD1BECD-9685-7A63-B5AE-DE075A0F3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03" y="1284258"/>
            <a:ext cx="3923069" cy="27129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A53A7E-4734-26E5-171D-DE61F8F11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854" y="4383645"/>
            <a:ext cx="4151819" cy="16205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52CFE8-D59A-113D-E58F-1EA205AE8CB7}"/>
              </a:ext>
            </a:extLst>
          </p:cNvPr>
          <p:cNvSpPr txBox="1"/>
          <p:nvPr/>
        </p:nvSpPr>
        <p:spPr>
          <a:xfrm>
            <a:off x="375744" y="6021370"/>
            <a:ext cx="3353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 marked by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 Landmarks</a:t>
            </a:r>
            <a:endParaRPr lang="en-S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468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FAC5A5D3-0192-CB9C-30A5-AF91D4D50770}"/>
              </a:ext>
            </a:extLst>
          </p:cNvPr>
          <p:cNvSpPr txBox="1">
            <a:spLocks/>
          </p:cNvSpPr>
          <p:nvPr/>
        </p:nvSpPr>
        <p:spPr>
          <a:xfrm>
            <a:off x="345188" y="4068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SG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Construction &amp; Scaling</a:t>
            </a:r>
          </a:p>
          <a:p>
            <a:endParaRPr lang="en-SG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0137E0-D1F5-2672-78E9-438C1B655990}"/>
                  </a:ext>
                </a:extLst>
              </p:cNvPr>
              <p:cNvSpPr txBox="1"/>
              <p:nvPr/>
            </p:nvSpPr>
            <p:spPr>
              <a:xfrm>
                <a:off x="4207740" y="1428452"/>
                <a:ext cx="6097314" cy="2848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SG" sz="16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</a:t>
                </a:r>
              </a:p>
              <a:p>
                <a:pPr>
                  <a:buNone/>
                </a:pPr>
                <a:r>
                  <a:rPr lang="en-SG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Require:</a:t>
                </a: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Extracted feature vectors </a:t>
                </a:r>
                <a14:m>
                  <m:oMath xmlns:m="http://schemas.openxmlformats.org/officeDocument/2006/math">
                    <m:r>
                      <a:rPr lang="en-SG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corresponding numerical labels</a:t>
                </a:r>
              </a:p>
              <a:p>
                <a:pPr>
                  <a:buNone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SG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sz="1600" i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600" i="0">
                            <a:latin typeface="Cambria Math" panose="02040503050406030204" pitchFamily="18" charset="0"/>
                          </a:rPr>
                          <m:t>246</m:t>
                        </m:r>
                      </m:e>
                    </m:d>
                  </m:oMath>
                </a14:m>
                <a:br>
                  <a:rPr lang="ar-A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SG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Ensure:</a:t>
                </a: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Serialized, scaled datasets ready for machine learning training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feature vectors and numerical class labels.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Perform data cleaning to remove invalid or missing samples.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Encode class labels into numerical form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ar-AE" sz="1600" b="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–</m:t>
                        </m:r>
                        <m:r>
                          <a:rPr lang="ar-AE" sz="1600" b="0" i="0">
                            <a:latin typeface="Cambria Math" panose="02040503050406030204" pitchFamily="18" charset="0"/>
                          </a:rPr>
                          <m:t>246</m:t>
                        </m:r>
                      </m:e>
                    </m:d>
                  </m:oMath>
                </a14:m>
                <a:r>
                  <a:rPr lang="ar-A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feature scaling to normalize landmark features.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Split the dataset into training and testing sets.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Serialize processed data and scaler using pickle.</a:t>
                </a:r>
              </a:p>
              <a:p>
                <a:pPr>
                  <a:buNone/>
                </a:pPr>
                <a:r>
                  <a:rPr lang="en-SG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Return:</a:t>
                </a: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Scaled training/testing datasets and serialized dataset file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0137E0-D1F5-2672-78E9-438C1B655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740" y="1428452"/>
                <a:ext cx="6097314" cy="2848087"/>
              </a:xfrm>
              <a:prstGeom prst="rect">
                <a:avLst/>
              </a:prstGeom>
              <a:blipFill>
                <a:blip r:embed="rId2"/>
                <a:stretch>
                  <a:fillRect l="-500" t="-641" b="-170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2D0B09E-A1A2-E3AA-C532-DC92205C4425}"/>
              </a:ext>
            </a:extLst>
          </p:cNvPr>
          <p:cNvSpPr txBox="1"/>
          <p:nvPr/>
        </p:nvSpPr>
        <p:spPr>
          <a:xfrm>
            <a:off x="4207740" y="4488167"/>
            <a:ext cx="60973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Aggregates hand landmark features, organizes datasets, and serializes data using pickle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feature scaling and train-test splitting to improve classifier performance.</a:t>
            </a:r>
            <a:endParaRPr lang="en-SG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0D50363-D118-B6EA-2154-00F5CBA47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89" y="1229553"/>
            <a:ext cx="2327060" cy="439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669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A73C6B0C-BD03-31F4-E659-370B0251C3B4}"/>
              </a:ext>
            </a:extLst>
          </p:cNvPr>
          <p:cNvSpPr txBox="1">
            <a:spLocks/>
          </p:cNvSpPr>
          <p:nvPr/>
        </p:nvSpPr>
        <p:spPr>
          <a:xfrm>
            <a:off x="198120" y="1171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Random Forest Model Training</a:t>
            </a:r>
            <a:endParaRPr lang="en-SG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B710D9-5176-8337-77A3-41267E5C5F00}"/>
                  </a:ext>
                </a:extLst>
              </p:cNvPr>
              <p:cNvSpPr txBox="1"/>
              <p:nvPr/>
            </p:nvSpPr>
            <p:spPr>
              <a:xfrm>
                <a:off x="5290231" y="1866173"/>
                <a:ext cx="5548561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: Random Forest Model Training and Selection</a:t>
                </a:r>
              </a:p>
              <a:p>
                <a:r>
                  <a:rPr lang="en-SG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Require:</a:t>
                </a: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Scaled training dataset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𝑡𝑟𝑎𝑖𝑛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𝑡𝑟𝑎𝑖𝑛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dataset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𝑡𝑒𝑠𝑡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𝑡𝑒𝑠𝑡</m:t>
                            </m:r>
                          </m:sub>
                        </m:sSub>
                      </m:e>
                    </m:d>
                  </m:oMath>
                </a14:m>
                <a:br>
                  <a:rPr lang="ar-A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SG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Ensure:</a:t>
                </a: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Trained Random Forest model with performance evaluation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Initialize Random Forest classifier with predefined parameters.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 the model using the scaled training dataset.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predictions on training and testing datasets.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Evaluate model performance using standard classification metrics.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Analyze</a:t>
                </a: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 importance for model interpretability.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Serialize the trained model and evaluation results.</a:t>
                </a:r>
              </a:p>
              <a:p>
                <a:r>
                  <a:rPr lang="en-SG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Return:</a:t>
                </a:r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Trained model </a:t>
                </a:r>
                <a14:m>
                  <m:oMath xmlns:m="http://schemas.openxmlformats.org/officeDocument/2006/math">
                    <m:r>
                      <a:rPr lang="en-SG" sz="16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S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performance metrics, and serialized model file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B710D9-5176-8337-77A3-41267E5C5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231" y="1866173"/>
                <a:ext cx="5548561" cy="3785652"/>
              </a:xfrm>
              <a:prstGeom prst="rect">
                <a:avLst/>
              </a:prstGeom>
              <a:blipFill>
                <a:blip r:embed="rId2"/>
                <a:stretch>
                  <a:fillRect l="-659" t="-483" b="-112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A5367FD2-0729-2468-04AA-23DD00073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43" y="1589845"/>
            <a:ext cx="2967367" cy="433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017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057CD8C-035D-E297-E873-5B21641B872A}"/>
              </a:ext>
            </a:extLst>
          </p:cNvPr>
          <p:cNvSpPr txBox="1">
            <a:spLocks/>
          </p:cNvSpPr>
          <p:nvPr/>
        </p:nvSpPr>
        <p:spPr>
          <a:xfrm>
            <a:off x="280852" y="-1049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Real-Time Alphabet Prediction</a:t>
            </a:r>
            <a:endParaRPr lang="en-SG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F3DCC6-128C-E3DE-45C5-2DE5F9B03900}"/>
                  </a:ext>
                </a:extLst>
              </p:cNvPr>
              <p:cNvSpPr txBox="1"/>
              <p:nvPr/>
            </p:nvSpPr>
            <p:spPr>
              <a:xfrm>
                <a:off x="202025" y="2826127"/>
                <a:ext cx="5071541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: Real-Time Prediction and User Interface</a:t>
                </a:r>
              </a:p>
              <a:p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Require: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Trained model file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video capture device</a:t>
                </a:r>
                <a:b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Ensure: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Real-time Tamil alphabet sign prediction with visual feedback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 the trained model, scaler, and label mapping.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Initialize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MediaPipe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Hands for real-time hand tracking.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Capture live video frames from the webcam.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Detect hand landmarks and extract 63-dimensional feature vectors.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Scale features and predict corresponding Tamil alphabet.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Display prediction and confidence score on the video frame.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Handle user input and release system resources.</a:t>
                </a:r>
              </a:p>
              <a:p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Return: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Real-time prediction output and system termination status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F3DCC6-128C-E3DE-45C5-2DE5F9B03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25" y="2826127"/>
                <a:ext cx="5071541" cy="4031873"/>
              </a:xfrm>
              <a:prstGeom prst="rect">
                <a:avLst/>
              </a:prstGeom>
              <a:blipFill>
                <a:blip r:embed="rId2"/>
                <a:stretch>
                  <a:fillRect l="-601" t="-454" b="-105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C6E0486-C34C-45EC-1A58-BFBC0BD8DB05}"/>
              </a:ext>
            </a:extLst>
          </p:cNvPr>
          <p:cNvSpPr txBox="1"/>
          <p:nvPr/>
        </p:nvSpPr>
        <p:spPr>
          <a:xfrm>
            <a:off x="5538651" y="2832647"/>
            <a:ext cx="6097314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live video, extracts hand landmarks, and predicts Tamil alphabet signs.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real-time predictions, landmarks, and visual feedback through user interface.</a:t>
            </a:r>
          </a:p>
          <a:p>
            <a:endParaRPr lang="en-SG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69E38A-DEC7-2F06-401F-7B9AC15B4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380" y="1258597"/>
            <a:ext cx="5969307" cy="106685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C0E73A3-9DFB-0032-A5EC-8A68B342D3F4}"/>
              </a:ext>
            </a:extLst>
          </p:cNvPr>
          <p:cNvSpPr/>
          <p:nvPr/>
        </p:nvSpPr>
        <p:spPr>
          <a:xfrm>
            <a:off x="1828800" y="1202962"/>
            <a:ext cx="843454" cy="3310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Trained RF Model</a:t>
            </a:r>
            <a:endParaRPr lang="en-SG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C0B2DD-B213-F9D5-A63D-1FDB4E72F9C8}"/>
              </a:ext>
            </a:extLst>
          </p:cNvPr>
          <p:cNvSpPr/>
          <p:nvPr/>
        </p:nvSpPr>
        <p:spPr>
          <a:xfrm>
            <a:off x="1592317" y="1858908"/>
            <a:ext cx="1316420" cy="5783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LIVE Webcam </a:t>
            </a:r>
            <a:r>
              <a:rPr lang="en-SG" sz="1200" dirty="0"/>
              <a:t> Input of Hand Gestures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7CB2F24-F0FD-6D6E-843C-A9BD2C30F6DF}"/>
              </a:ext>
            </a:extLst>
          </p:cNvPr>
          <p:cNvCxnSpPr>
            <a:stCxn id="11" idx="3"/>
          </p:cNvCxnSpPr>
          <p:nvPr/>
        </p:nvCxnSpPr>
        <p:spPr>
          <a:xfrm>
            <a:off x="2672254" y="1368500"/>
            <a:ext cx="985346" cy="165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C9FFDA8-EC29-A4F5-C712-4BA7793EE975}"/>
              </a:ext>
            </a:extLst>
          </p:cNvPr>
          <p:cNvCxnSpPr>
            <a:cxnSpLocks/>
            <a:stCxn id="12" idx="3"/>
            <a:endCxn id="10" idx="1"/>
          </p:cNvCxnSpPr>
          <p:nvPr/>
        </p:nvCxnSpPr>
        <p:spPr>
          <a:xfrm flipV="1">
            <a:off x="2908737" y="1792025"/>
            <a:ext cx="759643" cy="356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525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F69E9-B20F-8B41-2C5D-6CC670023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776682D3-5A65-9E5D-DF5F-83D46A4E004A}"/>
              </a:ext>
            </a:extLst>
          </p:cNvPr>
          <p:cNvSpPr txBox="1">
            <a:spLocks/>
          </p:cNvSpPr>
          <p:nvPr/>
        </p:nvSpPr>
        <p:spPr>
          <a:xfrm>
            <a:off x="237534" y="5406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6: Alphabet Sequence Aggregation &amp; Word Generation</a:t>
            </a:r>
          </a:p>
          <a:p>
            <a:endParaRPr lang="en-SG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105C68-026E-C214-1D53-73CB0B83F683}"/>
                  </a:ext>
                </a:extLst>
              </p:cNvPr>
              <p:cNvSpPr txBox="1"/>
              <p:nvPr/>
            </p:nvSpPr>
            <p:spPr>
              <a:xfrm>
                <a:off x="425670" y="1921353"/>
                <a:ext cx="9916509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:</a:t>
                </a:r>
              </a:p>
              <a:p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Require: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Continuous alphabet prediction stream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Tamil dictionary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b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Ensure: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Validated Tamil words formed from stable alphabet sequences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Initialize buffers and counters for alphabet stability and pause detection.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Monitor prediction stream to identify stable alphabet occurrences.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Aggregate stable alphabets into a word buffer.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Detect pauses to determine word boundaries.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Validate formed words using the Tamil dictionary.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 and display recognized words with optional confidence scores.</a:t>
                </a:r>
              </a:p>
              <a:p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Return: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List of validated Tamil words and word formation log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105C68-026E-C214-1D53-73CB0B83F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70" y="1921353"/>
                <a:ext cx="9916509" cy="2554545"/>
              </a:xfrm>
              <a:prstGeom prst="rect">
                <a:avLst/>
              </a:prstGeom>
              <a:blipFill>
                <a:blip r:embed="rId2"/>
                <a:stretch>
                  <a:fillRect l="-369" t="-716" b="-214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4138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5C3B0-8E11-7011-BFA1-250F53EFE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642" y="89228"/>
            <a:ext cx="105156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Interpretation</a:t>
            </a:r>
            <a:endParaRPr lang="en-SG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501CEF-04CE-CFFF-FCA6-420C8BB15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580823"/>
              </p:ext>
            </p:extLst>
          </p:nvPr>
        </p:nvGraphicFramePr>
        <p:xfrm>
          <a:off x="838200" y="3039597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280711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562470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37429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476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788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424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849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962675"/>
                  </a:ext>
                </a:extLst>
              </a:tr>
            </a:tbl>
          </a:graphicData>
        </a:graphic>
      </p:graphicFrame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B83C4836-1ACB-33E5-E4DB-C4BF68B9E3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6845077"/>
              </p:ext>
            </p:extLst>
          </p:nvPr>
        </p:nvGraphicFramePr>
        <p:xfrm>
          <a:off x="1738148" y="1612791"/>
          <a:ext cx="8715703" cy="429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8159">
                  <a:extLst>
                    <a:ext uri="{9D8B030D-6E8A-4147-A177-3AD203B41FA5}">
                      <a16:colId xmlns:a16="http://schemas.microsoft.com/office/drawing/2014/main" val="3467716576"/>
                    </a:ext>
                  </a:extLst>
                </a:gridCol>
                <a:gridCol w="6117544">
                  <a:extLst>
                    <a:ext uri="{9D8B030D-6E8A-4147-A177-3AD203B41FA5}">
                      <a16:colId xmlns:a16="http://schemas.microsoft.com/office/drawing/2014/main" val="1961424619"/>
                    </a:ext>
                  </a:extLst>
                </a:gridCol>
              </a:tblGrid>
              <a:tr h="536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</a:t>
                      </a:r>
                      <a:endParaRPr lang="en-S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  <a:endParaRPr lang="en-SG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246108"/>
                  </a:ext>
                </a:extLst>
              </a:tr>
              <a:tr h="536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TLFS23 (Tamil Language Finger Spelling 2023)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632052"/>
                  </a:ext>
                </a:extLst>
              </a:tr>
              <a:tr h="536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254,147 static RGB hand gesture images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562788"/>
                  </a:ext>
                </a:extLst>
              </a:tr>
              <a:tr h="536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Classes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247 Tamil characters + 1 background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271849"/>
                  </a:ext>
                </a:extLst>
              </a:tr>
              <a:tr h="536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Images per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~1,000 images per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939845"/>
                  </a:ext>
                </a:extLst>
              </a:tr>
              <a:tr h="536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Participants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 individuals aged 15–80 years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465286"/>
                  </a:ext>
                </a:extLst>
              </a:tr>
              <a:tr h="536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Vowels, consonants, compound characters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8215325"/>
                  </a:ext>
                </a:extLst>
              </a:tr>
              <a:tr h="536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Publicly available on Mendeley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231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029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C881F-EF9D-C5F6-4851-0D6AD0242C1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3902" y="187655"/>
            <a:ext cx="10515600" cy="1325562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Metrics   </a:t>
            </a:r>
            <a:br>
              <a:rPr lang="en-SG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SG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F9D854-3B9A-2E7F-AA91-554780AAE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368299"/>
              </p:ext>
            </p:extLst>
          </p:nvPr>
        </p:nvGraphicFramePr>
        <p:xfrm>
          <a:off x="1861448" y="1497179"/>
          <a:ext cx="7597862" cy="43988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07117">
                  <a:extLst>
                    <a:ext uri="{9D8B030D-6E8A-4147-A177-3AD203B41FA5}">
                      <a16:colId xmlns:a16="http://schemas.microsoft.com/office/drawing/2014/main" val="709017608"/>
                    </a:ext>
                  </a:extLst>
                </a:gridCol>
                <a:gridCol w="5690745">
                  <a:extLst>
                    <a:ext uri="{9D8B030D-6E8A-4147-A177-3AD203B41FA5}">
                      <a16:colId xmlns:a16="http://schemas.microsoft.com/office/drawing/2014/main" val="2841191541"/>
                    </a:ext>
                  </a:extLst>
                </a:gridCol>
              </a:tblGrid>
              <a:tr h="439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SG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Significance</a:t>
                      </a:r>
                      <a:endParaRPr lang="en-SG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807680241"/>
                  </a:ext>
                </a:extLst>
              </a:tr>
              <a:tr h="627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Confusion Matrix</a:t>
                      </a:r>
                      <a:endParaRPr lang="en-SG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structured measurement of correct and incorrect predictions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579485262"/>
                  </a:ext>
                </a:extLst>
              </a:tr>
              <a:tr h="10740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SG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proportion of correctly predicted instances among total instances evaluated.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772928582"/>
                  </a:ext>
                </a:extLst>
              </a:tr>
              <a:tr h="815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SG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Quantifies correct positive predictions among all predicted positives in classification.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317511912"/>
                  </a:ext>
                </a:extLst>
              </a:tr>
              <a:tr h="627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SG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proportion of actual positive instances correctly identified by classifier.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164464294"/>
                  </a:ext>
                </a:extLst>
              </a:tr>
              <a:tr h="815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SG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1-Score</a:t>
                      </a:r>
                      <a:endParaRPr lang="en-SG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Balances false positives and false negatives to assess overall model effectiveness.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815189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566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70173-A60F-6540-1DB8-A5618008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5407D-9BB0-AD56-4AE9-F512DBF06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66" y="18255"/>
            <a:ext cx="105156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Snapshots</a:t>
            </a:r>
            <a:endParaRPr lang="en-SG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ECA860-3D08-9FAD-15AF-589EDB502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66" y="1343818"/>
            <a:ext cx="5580993" cy="10797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6C1679-75D8-5946-C055-A36EDECC453F}"/>
              </a:ext>
            </a:extLst>
          </p:cNvPr>
          <p:cNvSpPr txBox="1"/>
          <p:nvPr/>
        </p:nvSpPr>
        <p:spPr>
          <a:xfrm>
            <a:off x="168166" y="1343818"/>
            <a:ext cx="423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endParaRPr lang="en-S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C4B7DD-8EC0-7660-CC35-0B1EEB127A35}"/>
              </a:ext>
            </a:extLst>
          </p:cNvPr>
          <p:cNvSpPr txBox="1"/>
          <p:nvPr/>
        </p:nvSpPr>
        <p:spPr>
          <a:xfrm>
            <a:off x="1022132" y="2238853"/>
            <a:ext cx="527619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different folders present in the TLF 23 Dataset.</a:t>
            </a:r>
            <a:endParaRPr lang="en-SG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583EB0-354A-1869-B394-F63ABB67C309}"/>
              </a:ext>
            </a:extLst>
          </p:cNvPr>
          <p:cNvSpPr txBox="1"/>
          <p:nvPr/>
        </p:nvSpPr>
        <p:spPr>
          <a:xfrm>
            <a:off x="168166" y="3120066"/>
            <a:ext cx="423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en-S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EE7B27-E21E-91F4-E7BB-E57EDC1D9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42" y="3198893"/>
            <a:ext cx="3455457" cy="331864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307155F-5B28-4C71-831E-AA5A2E8C6541}"/>
              </a:ext>
            </a:extLst>
          </p:cNvPr>
          <p:cNvSpPr txBox="1"/>
          <p:nvPr/>
        </p:nvSpPr>
        <p:spPr>
          <a:xfrm>
            <a:off x="4411899" y="3489398"/>
            <a:ext cx="52761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 of ReadMe.txt , depicting all the mappings between: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alphabets           Numerical Label</a:t>
            </a:r>
            <a:endParaRPr lang="en-SG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F7A74AD-814E-A5AD-2624-D95387C0290F}"/>
              </a:ext>
            </a:extLst>
          </p:cNvPr>
          <p:cNvCxnSpPr/>
          <p:nvPr/>
        </p:nvCxnSpPr>
        <p:spPr>
          <a:xfrm>
            <a:off x="5770179" y="3862552"/>
            <a:ext cx="402021" cy="127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679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5E14A-26FE-D748-F4A9-7883AF3B9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C308-FCC0-89EB-51BE-A47C5A476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66" y="18255"/>
            <a:ext cx="105156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Snapshots</a:t>
            </a:r>
            <a:endParaRPr lang="en-SG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F40C01-7683-36C1-4088-6BF82390E3E1}"/>
              </a:ext>
            </a:extLst>
          </p:cNvPr>
          <p:cNvSpPr txBox="1"/>
          <p:nvPr/>
        </p:nvSpPr>
        <p:spPr>
          <a:xfrm>
            <a:off x="168166" y="1343818"/>
            <a:ext cx="423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endParaRPr lang="en-S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1ED22A-DC09-B047-591E-40A18D811C50}"/>
              </a:ext>
            </a:extLst>
          </p:cNvPr>
          <p:cNvSpPr txBox="1"/>
          <p:nvPr/>
        </p:nvSpPr>
        <p:spPr>
          <a:xfrm>
            <a:off x="5594021" y="2130969"/>
            <a:ext cx="527619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Language of Tamil alphabets in a plain background</a:t>
            </a:r>
            <a:endParaRPr lang="en-SG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E6EC72-9FDA-ECA5-94F1-2E72D1587A6D}"/>
              </a:ext>
            </a:extLst>
          </p:cNvPr>
          <p:cNvSpPr txBox="1"/>
          <p:nvPr/>
        </p:nvSpPr>
        <p:spPr>
          <a:xfrm>
            <a:off x="168166" y="3862552"/>
            <a:ext cx="423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endParaRPr lang="en-S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600589-9481-F070-9AE0-AD63AC1B0169}"/>
              </a:ext>
            </a:extLst>
          </p:cNvPr>
          <p:cNvSpPr txBox="1"/>
          <p:nvPr/>
        </p:nvSpPr>
        <p:spPr>
          <a:xfrm>
            <a:off x="454518" y="5979353"/>
            <a:ext cx="527619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background sign images for each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tamil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alphabet</a:t>
            </a:r>
            <a:endParaRPr lang="en-SG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C5FEE5-12E9-E340-4D38-E40062527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62" y="1479269"/>
            <a:ext cx="4666704" cy="19497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38F1F7-470C-629C-6DA1-FA81EC41E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89" y="3862552"/>
            <a:ext cx="3755251" cy="18611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95DE62-1625-828B-F513-0625C7025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559" y="3862552"/>
            <a:ext cx="4874152" cy="19844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90A933-18D0-4D78-14C1-FA2BCA6D4130}"/>
              </a:ext>
            </a:extLst>
          </p:cNvPr>
          <p:cNvSpPr txBox="1"/>
          <p:nvPr/>
        </p:nvSpPr>
        <p:spPr>
          <a:xfrm>
            <a:off x="6261559" y="5971736"/>
            <a:ext cx="52761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gesture for one of the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tamil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alphabets, under different backgrounds.</a:t>
            </a:r>
            <a:endParaRPr lang="en-SG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484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6434</TotalTime>
  <Words>1262</Words>
  <Application>Microsoft Office PowerPoint</Application>
  <PresentationFormat>Widescreen</PresentationFormat>
  <Paragraphs>165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Office Theme</vt:lpstr>
      <vt:lpstr>TAMIL SIGN LANGUAGE RECOGNITION USING MACHINE LEARNING</vt:lpstr>
      <vt:lpstr>Background </vt:lpstr>
      <vt:lpstr>Motivation</vt:lpstr>
      <vt:lpstr>Problem Statement</vt:lpstr>
      <vt:lpstr>General Objectives</vt:lpstr>
      <vt:lpstr>Specific Objectives</vt:lpstr>
      <vt:lpstr>PowerPoint Presentation</vt:lpstr>
      <vt:lpstr>Module 1: Image Pre-processing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Dataset Interpretation</vt:lpstr>
      <vt:lpstr>Performance Evaluation Metrics    </vt:lpstr>
      <vt:lpstr>Dataset Snapshots</vt:lpstr>
      <vt:lpstr>Dataset Snapshots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ABIRAMI RAMANATHAN</dc:creator>
  <cp:lastModifiedBy>ABIRAMI RAMANATHAN</cp:lastModifiedBy>
  <cp:revision>25</cp:revision>
  <dcterms:created xsi:type="dcterms:W3CDTF">2026-01-03T05:17:18Z</dcterms:created>
  <dcterms:modified xsi:type="dcterms:W3CDTF">2026-01-28T06:35:13Z</dcterms:modified>
</cp:coreProperties>
</file>